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02920"/>
            <a:ext cx="2432304" cy="347472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39496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智能招生咨询 · 路演版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400" b="1">
                <a:solidFill>
                  <a:srgbClr val="FFFFFF"/>
                </a:solidFill>
                <a:latin typeface="PingFang SC"/>
              </a:defRPr>
            </a:pPr>
            <a:r>
              <a:t>一句话问清楚，</a:t>
            </a:r>
            <a:br/>
            <a:r>
              <a:t>像顾问一样报志愿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200" b="0">
                <a:solidFill>
                  <a:srgbClr val="CBD5E1"/>
                </a:solidFill>
                <a:latin typeface="PingFang SC"/>
              </a:defRPr>
            </a:pPr>
            <a:r>
              <a:t>连接真实分数数据 + 招生政策资料 + 连续对话咨询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700" b="0">
                <a:solidFill>
                  <a:srgbClr val="94A3B8"/>
                </a:solidFill>
                <a:latin typeface="PingFang SC"/>
              </a:defRPr>
            </a:pPr>
            <a:r>
              <a:t>不是表单筛选，不是泛泛聊天 —— 是「能追问、能解释、能核对」的招生顾问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PingFang SC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3B82F6"/>
                </a:solidFill>
                <a:latin typeface="PingFang SC"/>
              </a:defRPr>
            </a:pPr>
            <a:r>
              <a:t>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400" b="1">
                <a:solidFill>
                  <a:srgbClr val="0F172A"/>
                </a:solidFill>
                <a:latin typeface="PingFang SC"/>
              </a:defRPr>
            </a:pPr>
            <a:r>
              <a:t>填志愿，不该这么难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9280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3B82F6"/>
                </a:solidFill>
                <a:latin typeface="PingFang SC"/>
              </a:defRPr>
            </a:pPr>
            <a:r>
              <a:t>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4144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0">
                <a:solidFill>
                  <a:srgbClr val="64748B"/>
                </a:solidFill>
                <a:latin typeface="PingFang SC"/>
              </a:defRPr>
            </a:pPr>
            <a:r>
              <a:t>分数、专业、政策散落在不同页面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9164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9280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3B82F6"/>
                </a:solidFill>
                <a:latin typeface="PingFang SC"/>
              </a:defRPr>
            </a:pPr>
            <a:r>
              <a:t>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44144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0">
                <a:solidFill>
                  <a:srgbClr val="64748B"/>
                </a:solidFill>
                <a:latin typeface="PingFang SC"/>
              </a:defRPr>
            </a:pPr>
            <a:r>
              <a:t>批次、位次、选科规则理解成本高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9164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89280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3B82F6"/>
                </a:solidFill>
                <a:latin typeface="PingFang SC"/>
              </a:defRPr>
            </a:pPr>
            <a:r>
              <a:t>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44144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0">
                <a:solidFill>
                  <a:srgbClr val="64748B"/>
                </a:solidFill>
                <a:latin typeface="PingFang SC"/>
              </a:defRPr>
            </a:pPr>
            <a:r>
              <a:t>表单工具难表达「不想当老师」这类真实需求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2200" b="0">
                <a:solidFill>
                  <a:srgbClr val="64748B"/>
                </a:solidFill>
                <a:latin typeface="PingFang SC"/>
              </a:defRPr>
            </a:pPr>
            <a:r>
              <a:t>考生和家长真正需要的，不是一张冷冰冰的推荐表，</a:t>
            </a:r>
            <a:br/>
            <a:r>
              <a:t>而是一位能听懂、能解释、能持续调整的咨询顾问。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PingFang SC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10B981"/>
                </a:solidFill>
                <a:latin typeface="PingFang SC"/>
              </a:defRPr>
            </a:pPr>
            <a:r>
              <a:t>我们做什么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400" b="1">
                <a:solidFill>
                  <a:srgbClr val="0F172A"/>
                </a:solidFill>
                <a:latin typeface="PingFang SC"/>
              </a:defRPr>
            </a:pPr>
            <a:r>
              <a:t>智能招生咨询，一站式回答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800"/>
              </a:spcAft>
              <a:defRPr sz="2100" b="0">
                <a:solidFill>
                  <a:srgbClr val="0F172A"/>
                </a:solidFill>
                <a:latin typeface="PingFang SC"/>
              </a:defRPr>
            </a:pPr>
            <a:r>
              <a:t>💬  像聊天一样提问 —— 不用学复杂筛选</a:t>
            </a:r>
          </a:p>
          <a:p>
            <a:pPr>
              <a:lnSpc>
                <a:spcPct val="125000"/>
              </a:lnSpc>
              <a:spcAft>
                <a:spcPts val="1800"/>
              </a:spcAft>
              <a:defRPr sz="2100">
                <a:solidFill>
                  <a:srgbClr val="0F172A"/>
                </a:solidFill>
                <a:latin typeface="PingFang SC"/>
              </a:defRPr>
            </a:pPr>
            <a:r>
              <a:t>🎯  分数匹配 + 政策解读 —— 一次问清「能不能报」</a:t>
            </a:r>
          </a:p>
          <a:p>
            <a:pPr>
              <a:lnSpc>
                <a:spcPct val="125000"/>
              </a:lnSpc>
              <a:spcAft>
                <a:spcPts val="1800"/>
              </a:spcAft>
              <a:defRPr sz="2100">
                <a:solidFill>
                  <a:srgbClr val="0F172A"/>
                </a:solidFill>
                <a:latin typeface="PingFang SC"/>
              </a:defRPr>
            </a:pPr>
            <a:r>
              <a:t>🔍  支持排除与偏好 —— 「留长三角、不当老师」也能懂</a:t>
            </a:r>
          </a:p>
          <a:p>
            <a:pPr>
              <a:lnSpc>
                <a:spcPct val="125000"/>
              </a:lnSpc>
              <a:spcAft>
                <a:spcPts val="1800"/>
              </a:spcAft>
              <a:defRPr sz="2100">
                <a:solidFill>
                  <a:srgbClr val="0F172A"/>
                </a:solidFill>
                <a:latin typeface="PingFang SC"/>
              </a:defRPr>
            </a:pPr>
            <a:r>
              <a:t>🔄  多轮追问调方案 —— 边聊边细化</a:t>
            </a:r>
          </a:p>
          <a:p>
            <a:pPr>
              <a:lnSpc>
                <a:spcPct val="125000"/>
              </a:lnSpc>
              <a:spcAft>
                <a:spcPts val="1800"/>
              </a:spcAft>
              <a:defRPr sz="2100">
                <a:solidFill>
                  <a:srgbClr val="0F172A"/>
                </a:solidFill>
                <a:latin typeface="PingFang SC"/>
              </a:defRPr>
            </a:pPr>
            <a:r>
              <a:t>📎  关键回答附资料来源 —— 建议可核对、可信任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PingFang SC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3B82F6"/>
                </a:solidFill>
                <a:latin typeface="PingFang SC"/>
              </a:defRPr>
            </a:pPr>
            <a:r>
              <a:t>产品逻辑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400" b="1">
                <a:solidFill>
                  <a:srgbClr val="0F172A"/>
                </a:solidFill>
                <a:latin typeface="PingFang SC"/>
              </a:defRPr>
            </a:pPr>
            <a:r>
              <a:t>三句话跑通一次咨询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34290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3B82F6"/>
                </a:solidFill>
                <a:latin typeface="PingFang S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200" b="1">
                <a:solidFill>
                  <a:srgbClr val="0F172A"/>
                </a:solidFill>
                <a:latin typeface="PingFang SC"/>
              </a:defRPr>
            </a:pPr>
            <a:r>
              <a:t>用户提问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632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defRPr sz="1500" b="0">
                <a:solidFill>
                  <a:srgbClr val="64748B"/>
                </a:solidFill>
                <a:latin typeface="PingFang SC"/>
              </a:defRPr>
            </a:pPr>
            <a:r>
              <a:t>「600 分，想留长三角，就业稳一点」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79" y="1828800"/>
            <a:ext cx="34290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2011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3B82F6"/>
                </a:solidFill>
                <a:latin typeface="PingFang SC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5146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200" b="1">
                <a:solidFill>
                  <a:srgbClr val="0F172A"/>
                </a:solidFill>
                <a:latin typeface="PingFang SC"/>
              </a:defRPr>
            </a:pPr>
            <a:r>
              <a:t>系统理解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0632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defRPr sz="1500" b="0">
                <a:solidFill>
                  <a:srgbClr val="64748B"/>
                </a:solidFill>
                <a:latin typeface="PingFang SC"/>
              </a:defRPr>
            </a:pPr>
            <a:r>
              <a:t>识别分数、地区、就业偏好与排除条件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19" y="1828800"/>
            <a:ext cx="34290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2011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3B82F6"/>
                </a:solidFill>
                <a:latin typeface="PingFang SC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5146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200" b="1">
                <a:solidFill>
                  <a:srgbClr val="0F172A"/>
                </a:solidFill>
                <a:latin typeface="PingFang SC"/>
              </a:defRPr>
            </a:pPr>
            <a:r>
              <a:t>给出建议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30632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defRPr sz="1500" b="0">
                <a:solidFill>
                  <a:srgbClr val="64748B"/>
                </a:solidFill>
                <a:latin typeface="PingFang SC"/>
              </a:defRPr>
            </a:pPr>
            <a:r>
              <a:t>推荐专业 + 解释政策 + 展示参考依据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PingFang SC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3B82F6"/>
                </a:solidFill>
                <a:latin typeface="PingFang SC"/>
              </a:defRPr>
            </a:pPr>
            <a:r>
              <a:t>竞争格局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200" b="1">
                <a:solidFill>
                  <a:srgbClr val="0F172A"/>
                </a:solidFill>
                <a:latin typeface="PingFang SC"/>
              </a:defRPr>
            </a:pPr>
            <a:r>
              <a:t>我们站在「表单志愿」和「通用 AI」之间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500" b="0">
                <a:solidFill>
                  <a:srgbClr val="64748B"/>
                </a:solidFill>
                <a:latin typeface="PingFang SC"/>
              </a:defRPr>
            </a:pPr>
            <a:r>
              <a:t>三类常见方案各有强项，我们的机会是补齐「解释 + 连续咨询」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26060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2606040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30552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1">
                <a:solidFill>
                  <a:srgbClr val="0F172A"/>
                </a:solidFill>
                <a:latin typeface="PingFang SC"/>
              </a:defRPr>
            </a:pPr>
            <a:r>
              <a:t>传统表单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58775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300" b="0">
                <a:solidFill>
                  <a:srgbClr val="64748B"/>
                </a:solidFill>
                <a:latin typeface="PingFang SC"/>
              </a:defRPr>
            </a:pPr>
            <a:r>
              <a:t>填分 · 点选 · 出列表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971800"/>
            <a:ext cx="214884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defRPr sz="1400" b="0">
                <a:solidFill>
                  <a:srgbClr val="64748B"/>
                </a:solidFill>
                <a:latin typeface="PingFang SC"/>
              </a:defRPr>
            </a:pPr>
            <a:r>
              <a:t>优势：数据稳定</a:t>
            </a:r>
            <a:br/>
            <a:r>
              <a:t>短板：难表达复杂偏好</a:t>
            </a:r>
            <a:br/>
            <a:r>
              <a:t>难连续追问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874519"/>
            <a:ext cx="26060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874519"/>
            <a:ext cx="26060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6472" y="2130552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1">
                <a:solidFill>
                  <a:srgbClr val="0F172A"/>
                </a:solidFill>
                <a:latin typeface="PingFang SC"/>
              </a:defRPr>
            </a:pPr>
            <a:r>
              <a:t>夸克志愿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258775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300" b="0">
                <a:solidFill>
                  <a:srgbClr val="64748B"/>
                </a:solidFill>
                <a:latin typeface="PingFang SC"/>
              </a:defRPr>
            </a:pPr>
            <a:r>
              <a:t>大数据 · 志愿表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2971800"/>
            <a:ext cx="214884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defRPr sz="1400" b="0">
                <a:solidFill>
                  <a:srgbClr val="64748B"/>
                </a:solidFill>
                <a:latin typeface="PingFang SC"/>
              </a:defRPr>
            </a:pPr>
            <a:r>
              <a:t>优势：覆盖广、结果快</a:t>
            </a:r>
            <a:br/>
            <a:r>
              <a:t>短板：偏结果交付</a:t>
            </a:r>
            <a:br/>
            <a:r>
              <a:t>解释性一般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874519"/>
            <a:ext cx="26060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874519"/>
            <a:ext cx="260604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2130552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1">
                <a:solidFill>
                  <a:srgbClr val="0F172A"/>
                </a:solidFill>
                <a:latin typeface="PingFang SC"/>
              </a:defRPr>
            </a:pPr>
            <a:r>
              <a:t>千问等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258775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300" b="0">
                <a:solidFill>
                  <a:srgbClr val="64748B"/>
                </a:solidFill>
                <a:latin typeface="PingFang SC"/>
              </a:defRPr>
            </a:pPr>
            <a:r>
              <a:t>自由聊天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971800"/>
            <a:ext cx="214884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defRPr sz="1400" b="0">
                <a:solidFill>
                  <a:srgbClr val="64748B"/>
                </a:solidFill>
                <a:latin typeface="PingFang SC"/>
              </a:defRPr>
            </a:pPr>
            <a:r>
              <a:t>优势：表达自然</a:t>
            </a:r>
            <a:br/>
            <a:r>
              <a:t>短板：易泛泛而谈</a:t>
            </a:r>
            <a:br/>
            <a:r>
              <a:t>招生准确性难保障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874519"/>
            <a:ext cx="2331720" cy="3246120"/>
          </a:xfrm>
          <a:prstGeom prst="roundRect">
            <a:avLst/>
          </a:prstGeom>
          <a:solidFill>
            <a:srgbClr val="2563EB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1874519"/>
            <a:ext cx="233172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45752" y="213055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1">
                <a:solidFill>
                  <a:srgbClr val="FFFFFF"/>
                </a:solidFill>
                <a:latin typeface="PingFang SC"/>
              </a:defRPr>
            </a:pPr>
            <a:r>
              <a:t>本项目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5752" y="2587752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300" b="0">
                <a:solidFill>
                  <a:srgbClr val="BFDBFE"/>
                </a:solidFill>
                <a:latin typeface="PingFang SC"/>
              </a:defRPr>
            </a:pPr>
            <a:r>
              <a:t>智能顾问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5752" y="2971800"/>
            <a:ext cx="1874519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defRPr sz="1400" b="0">
                <a:solidFill>
                  <a:srgbClr val="E2E8F0"/>
                </a:solidFill>
                <a:latin typeface="PingFang SC"/>
              </a:defRPr>
            </a:pPr>
            <a:r>
              <a:t>✓ 自然语言提问</a:t>
            </a:r>
            <a:br/>
            <a:r>
              <a:t>✓ 分数 + 政策双校验</a:t>
            </a:r>
            <a:br/>
            <a:r>
              <a:t>✓ 多轮追问调方案</a:t>
            </a:r>
            <a:br/>
            <a:r>
              <a:t>✓ 回答可核对来源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PingFang SC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FBBF24"/>
                </a:solidFill>
                <a:latin typeface="PingFang SC"/>
              </a:defRPr>
            </a:pPr>
            <a:r>
              <a:t>为什么是我们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400" b="1">
                <a:solidFill>
                  <a:srgbClr val="0F172A"/>
                </a:solidFill>
                <a:latin typeface="PingFang SC"/>
              </a:defRPr>
            </a:pPr>
            <a:r>
              <a:t>四条差异化，讲给投资人听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525780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56232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1">
                <a:solidFill>
                  <a:srgbClr val="0F172A"/>
                </a:solidFill>
                <a:latin typeface="PingFang SC"/>
              </a:defRPr>
            </a:pPr>
            <a:r>
              <a:t>更省心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31343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300" b="0">
                <a:solidFill>
                  <a:srgbClr val="64748B"/>
                </a:solidFill>
                <a:latin typeface="PingFang SC"/>
              </a:defRPr>
            </a:pPr>
            <a:r>
              <a:t>一句话说清复杂需求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697480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defRPr sz="1400" b="0">
                <a:solidFill>
                  <a:srgbClr val="64748B"/>
                </a:solidFill>
                <a:latin typeface="PingFang SC"/>
              </a:defRPr>
            </a:pPr>
            <a:r>
              <a:t>不用在十几个筛选项里反复试错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600200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59" y="1600200"/>
            <a:ext cx="525780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856232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1">
                <a:solidFill>
                  <a:srgbClr val="0F172A"/>
                </a:solidFill>
                <a:latin typeface="PingFang SC"/>
              </a:defRPr>
            </a:pPr>
            <a:r>
              <a:t>更灵活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31343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300" b="0">
                <a:solidFill>
                  <a:srgbClr val="64748B"/>
                </a:solidFill>
                <a:latin typeface="PingFang SC"/>
              </a:defRPr>
            </a:pPr>
            <a:r>
              <a:t>不只给列表，还给理由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697480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defRPr sz="1400" b="0">
                <a:solidFill>
                  <a:srgbClr val="64748B"/>
                </a:solidFill>
                <a:latin typeface="PingFang SC"/>
              </a:defRPr>
            </a:pPr>
            <a:r>
              <a:t>解释政策限制、专业差异与取舍逻辑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474720"/>
            <a:ext cx="525780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730752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1">
                <a:solidFill>
                  <a:srgbClr val="0F172A"/>
                </a:solidFill>
                <a:latin typeface="PingFang SC"/>
              </a:defRPr>
            </a:pPr>
            <a:r>
              <a:t>更靠谱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18795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300" b="0">
                <a:solidFill>
                  <a:srgbClr val="64748B"/>
                </a:solidFill>
                <a:latin typeface="PingFang SC"/>
              </a:defRPr>
            </a:pPr>
            <a:r>
              <a:t>建立在真实招生资料上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572000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defRPr sz="1400" b="0">
                <a:solidFill>
                  <a:srgbClr val="64748B"/>
                </a:solidFill>
                <a:latin typeface="PingFang SC"/>
              </a:defRPr>
            </a:pPr>
            <a:r>
              <a:t>减少空泛建议和「听起来对」的误判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3474720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3474720"/>
            <a:ext cx="525780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3730752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1">
                <a:solidFill>
                  <a:srgbClr val="0F172A"/>
                </a:solidFill>
                <a:latin typeface="PingFang SC"/>
              </a:defRPr>
            </a:pPr>
            <a:r>
              <a:t>更连续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18795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300" b="0">
                <a:solidFill>
                  <a:srgbClr val="64748B"/>
                </a:solidFill>
                <a:latin typeface="PingFang SC"/>
              </a:defRPr>
            </a:pPr>
            <a:r>
              <a:t>像真人顾问一样追问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572000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defRPr sz="1400" b="0">
                <a:solidFill>
                  <a:srgbClr val="64748B"/>
                </a:solidFill>
                <a:latin typeface="PingFang SC"/>
              </a:defRPr>
            </a:pPr>
            <a:r>
              <a:t>条件变了，方案跟着变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PingFang SC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10B981"/>
                </a:solidFill>
                <a:latin typeface="PingFang SC"/>
              </a:defRPr>
            </a:pPr>
            <a:r>
              <a:t>典型场景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400" b="1">
                <a:solidFill>
                  <a:srgbClr val="0F172A"/>
                </a:solidFill>
                <a:latin typeface="PingFang SC"/>
              </a:defRPr>
            </a:pPr>
            <a:r>
              <a:t>用户真正会问的问题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105156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764792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0">
                <a:solidFill>
                  <a:srgbClr val="0F172A"/>
                </a:solidFill>
                <a:latin typeface="PingFang SC"/>
              </a:defRPr>
            </a:pPr>
            <a:r>
              <a:t>「这个分数，能上哪些学校和专业？」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105156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816352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0">
                <a:solidFill>
                  <a:srgbClr val="0F172A"/>
                </a:solidFill>
                <a:latin typeface="PingFang SC"/>
              </a:defRPr>
            </a:pPr>
            <a:r>
              <a:t>「想留长三角，就业更稳的专业有哪些？」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03320"/>
            <a:ext cx="105156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867911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0">
                <a:solidFill>
                  <a:srgbClr val="0F172A"/>
                </a:solidFill>
                <a:latin typeface="PingFang SC"/>
              </a:defRPr>
            </a:pPr>
            <a:r>
              <a:t>「这所学校对选科、体检有什么要求？」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54879"/>
            <a:ext cx="105156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919471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0">
                <a:solidFill>
                  <a:srgbClr val="0F172A"/>
                </a:solidFill>
                <a:latin typeface="PingFang SC"/>
              </a:defRPr>
            </a:pPr>
            <a:r>
              <a:t>「A 校和 B 校，哪个更适合我？」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PingFang SC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FBBF24"/>
                </a:solidFill>
                <a:latin typeface="PingFang SC"/>
              </a:defRPr>
            </a:pPr>
            <a:r>
              <a:t>价值总结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800" b="1">
                <a:solidFill>
                  <a:srgbClr val="FFFFFF"/>
                </a:solidFill>
                <a:latin typeface="PingFang SC"/>
              </a:defRPr>
            </a:pPr>
            <a:r>
              <a:t>从「查信息」到「做决策」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600"/>
              </a:spcAft>
              <a:defRPr sz="2200" b="0">
                <a:solidFill>
                  <a:srgbClr val="CBD5E1"/>
                </a:solidFill>
                <a:latin typeface="PingFang SC"/>
              </a:defRPr>
            </a:pPr>
            <a:r>
              <a:t>对用户：更低门槛、更快决策、更敢相信</a:t>
            </a:r>
          </a:p>
          <a:p>
            <a:pPr>
              <a:lnSpc>
                <a:spcPct val="125000"/>
              </a:lnSpc>
              <a:spcAft>
                <a:spcPts val="1600"/>
              </a:spcAft>
              <a:defRPr sz="2200">
                <a:solidFill>
                  <a:srgbClr val="CBD5E1"/>
                </a:solidFill>
                <a:latin typeface="PingFang SC"/>
              </a:defRPr>
            </a:pPr>
            <a:r>
              <a:t>对学校：减轻重复答疑，提升咨询体验</a:t>
            </a:r>
          </a:p>
          <a:p>
            <a:pPr>
              <a:lnSpc>
                <a:spcPct val="125000"/>
              </a:lnSpc>
              <a:spcAft>
                <a:spcPts val="1600"/>
              </a:spcAft>
              <a:defRPr sz="2200">
                <a:solidFill>
                  <a:srgbClr val="CBD5E1"/>
                </a:solidFill>
                <a:latin typeface="PingFang SC"/>
              </a:defRPr>
            </a:pPr>
            <a:r>
              <a:t>对平台：可复制、可扩展、可持续在线服务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b="1">
                <a:solidFill>
                  <a:srgbClr val="FBBF24"/>
                </a:solidFill>
                <a:latin typeface="PingFang SC"/>
              </a:defRPr>
            </a:pPr>
            <a:r>
              <a:t>定位一句话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83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400" b="1">
                <a:solidFill>
                  <a:srgbClr val="FFFFFF"/>
                </a:solidFill>
                <a:latin typeface="PingFang SC"/>
              </a:defRPr>
            </a:pPr>
            <a:r>
              <a:t>夸克给你志愿表，千问陪你聊天，我们帮你像顾问一样把志愿问明白。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PingFang SC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